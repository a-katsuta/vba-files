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人気食品工場見学5選：企業戦略とブランド体験の最前線</a:t>
            </a:r>
          </a:p>
          <a:p>
            <a:pPr>
              <a:defRPr sz="1600">
                <a:solidFill>
                  <a:srgbClr val="DDDDDD"/>
                </a:solidFill>
                <a:latin typeface="Yu Gothic"/>
              </a:defRPr>
            </a:pPr>
            <a:r>
              <a:t>現代マーケティングの新たなフロンティア - 体験価値創造の比較分析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815218" cy="1920240"/>
          </a:xfrm>
          <a:prstGeom prst="rect">
            <a:avLst/>
          </a:prstGeom>
          <a:solidFill>
            <a:srgbClr val="FFFFFF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3E50"/>
                </a:solidFill>
                <a:latin typeface="Yu Gothic"/>
              </a:defRPr>
            </a:pPr>
            <a:r>
              <a:t>なぜ企業は「舞台裏」を見せるのか？</a:t>
            </a:r>
          </a:p>
          <a:p>
            <a:pPr>
              <a:spcBef>
                <a:spcPts val="600"/>
              </a:spcBef>
              <a:defRPr sz="1200">
                <a:solidFill>
                  <a:srgbClr val="555555"/>
                </a:solidFill>
                <a:latin typeface="Yu Gothic"/>
              </a:defRPr>
            </a:pPr>
            <a:r>
              <a:t>現代の食品工場見学は、単なる生産現場の視察から、ブランドの世界観を五感で体験させる「劇場型施設」へと進化している。この背景には、食の安全・安心への高まる要求と、モノ消費から「体験」を重視するコト消費へのシフトがある。企業は製造工程の透明性を示すことで消費者の信頼を勝ち取り、記憶に残る体験を提供することで強力なファンを育成す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3337560"/>
          <a:ext cx="5815218.2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745"/>
                <a:gridCol w="830745"/>
                <a:gridCol w="830745"/>
                <a:gridCol w="830745"/>
                <a:gridCol w="830745"/>
                <a:gridCol w="830745"/>
                <a:gridCol w="830748"/>
              </a:tblGrid>
              <a:tr h="5486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施設名 / 所在地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予約難易度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体験ユニークさ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学びの深さ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エンタメ性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お土産魅力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アクセス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グリコピア・イースト 埼玉県北本市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計画必須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デコポッキー作り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創業者物語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遊び心満載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限定グッズ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3点 車推奨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中村屋 中華まんミュージアム 埼玉県入間市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超激戦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3点 熱々試食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歴史と起源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探検隊コンセプト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試食＋グッズ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3点 ICから近い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ロッテ おかしの学校 埼玉県さいたま市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数分で満席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本格的なライン見学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SDGs教育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完成された世界観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豪華詰め合わせ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駅徒歩5分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キユーピーマヨテラス 東京都調布市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比較的容易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ソース作り体験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科学的な学び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巨大マヨドーム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限定マヨ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駅徒歩7分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赤城乳業 5S工場 埼玉県本庄市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完全抽選制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アイス食べ放題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3点 5Sの取り組み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5点 ガリガリ君パーク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4点 限定ノベルティ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latin typeface="Yu Gothic"/>
                        </a:defRPr>
                      </a:pPr>
                      <a:r>
                        <a:t>2点 車必須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55298" y="1234440"/>
            <a:ext cx="5367893" cy="32004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3E50"/>
                </a:solidFill>
                <a:latin typeface="Yu Gothic"/>
              </a:defRPr>
            </a:pPr>
            <a:r>
              <a:t>企業戦略としての工場見学：3つの価値</a:t>
            </a:r>
          </a:p>
          <a:p>
            <a:pPr>
              <a:spcBef>
                <a:spcPts val="800"/>
              </a:spcBef>
              <a:defRPr sz="1400" b="1">
                <a:solidFill>
                  <a:srgbClr val="3498DB"/>
                </a:solidFill>
                <a:latin typeface="Yu Gothic"/>
              </a:defRPr>
            </a:pPr>
            <a:r>
              <a:t>対消費者：ブランド価値の創造とファン化</a:t>
            </a:r>
          </a:p>
          <a:p>
            <a:pPr lvl="1">
              <a:defRPr sz="1200">
                <a:solidFill>
                  <a:srgbClr val="555555"/>
                </a:solidFill>
                <a:latin typeface="Yu Gothic"/>
              </a:defRPr>
            </a:pPr>
            <a:r>
              <a:t>製造工程の可視化で「信頼」を、体験価値の提供で「愛着」を醸成。ブランドストーリーを伝え、熱心なファンを育てる。</a:t>
            </a:r>
          </a:p>
          <a:p>
            <a:pPr>
              <a:spcBef>
                <a:spcPts val="800"/>
              </a:spcBef>
              <a:defRPr sz="1400" b="1">
                <a:solidFill>
                  <a:srgbClr val="3498DB"/>
                </a:solidFill>
                <a:latin typeface="Yu Gothic"/>
              </a:defRPr>
            </a:pPr>
            <a:r>
              <a:t>対社会：CSRと教育的役割の実践</a:t>
            </a:r>
          </a:p>
          <a:p>
            <a:pPr lvl="1">
              <a:defRPr sz="1200">
                <a:solidFill>
                  <a:srgbClr val="555555"/>
                </a:solidFill>
                <a:latin typeface="Yu Gothic"/>
              </a:defRPr>
            </a:pPr>
            <a:r>
              <a:t>食育やSDGs教育の場を提供し、企業の社会的責任を果たす。地域経済の活性化にも貢献。</a:t>
            </a:r>
          </a:p>
          <a:p>
            <a:pPr>
              <a:spcBef>
                <a:spcPts val="800"/>
              </a:spcBef>
              <a:defRPr sz="1400" b="1">
                <a:solidFill>
                  <a:srgbClr val="3498DB"/>
                </a:solidFill>
                <a:latin typeface="Yu Gothic"/>
              </a:defRPr>
            </a:pPr>
            <a:r>
              <a:t>対社内：インナーブランディングと組織活性化</a:t>
            </a:r>
          </a:p>
          <a:p>
            <a:pPr lvl="1">
              <a:defRPr sz="1200">
                <a:solidFill>
                  <a:srgbClr val="555555"/>
                </a:solidFill>
                <a:latin typeface="Yu Gothic"/>
              </a:defRPr>
            </a:pPr>
            <a:r>
              <a:t>来場者の喜びが従業員の誇りとなり、モチベーションを向上。「見られる意識」が品質管理レベルを底上げする。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55298" y="4663440"/>
            <a:ext cx="5367893" cy="22860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C3E50"/>
                </a:solidFill>
                <a:latin typeface="Yu Gothic"/>
              </a:defRPr>
            </a:pPr>
            <a:r>
              <a:t>考察と結論</a:t>
            </a:r>
          </a:p>
          <a:p>
            <a:pPr lvl="1">
              <a:spcBef>
                <a:spcPts val="400"/>
              </a:spcBef>
              <a:defRPr sz="1200">
                <a:solidFill>
                  <a:srgbClr val="555555"/>
                </a:solidFill>
                <a:latin typeface="Yu Gothic"/>
              </a:defRPr>
            </a:pPr>
            <a:r>
              <a:t>5施設の比較から、各社が独自のブランドストーリーを巧みに演出していることがわかる。グリコは「共有価値」、中村屋は「信頼性」、ロッテは「教育的価値」、赤城乳業は「純粋なエンタメ価値」、キユーピーは「知的付加価値」をそれぞれ核に据え、来場者に強烈な体験を刻み込む。</a:t>
            </a:r>
          </a:p>
          <a:p>
            <a:pPr lvl="1">
              <a:spcBef>
                <a:spcPts val="400"/>
              </a:spcBef>
              <a:defRPr sz="1200">
                <a:solidFill>
                  <a:srgbClr val="555555"/>
                </a:solidFill>
                <a:latin typeface="Yu Gothic"/>
              </a:defRPr>
            </a:pPr>
            <a:r>
              <a:t>工場見学は、もはや単なる「見せる」施設ではなく、企業の哲学や価値観を直接消費者に伝える最強のコミュニケーション装置となっている。デジタル時代だからこそ、「リアルな体験」の価値は高まり続けてい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303520"/>
            <a:ext cx="581521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ctr">
              <a:defRPr sz="1600" b="1">
                <a:solidFill>
                  <a:srgbClr val="3498DB"/>
                </a:solidFill>
                <a:latin typeface="Yu Gothic"/>
              </a:defRPr>
            </a:pPr>
            <a:r>
              <a:t>キーインサイト</a:t>
            </a:r>
          </a:p>
          <a:p>
            <a:pPr lvl="1">
              <a:defRPr sz="1200">
                <a:solidFill>
                  <a:srgbClr val="2C3E50"/>
                </a:solidFill>
                <a:latin typeface="Yu Gothic"/>
              </a:defRPr>
            </a:pPr>
            <a:r>
              <a:t>1. 戦略的投資としての位置づけ</a:t>
            </a:r>
          </a:p>
          <a:p>
            <a:pPr lvl="1">
              <a:defRPr sz="1200">
                <a:solidFill>
                  <a:srgbClr val="2C3E50"/>
                </a:solidFill>
                <a:latin typeface="Yu Gothic"/>
              </a:defRPr>
            </a:pPr>
            <a:r>
              <a:t>2. 消費者との信頼関係構築</a:t>
            </a:r>
          </a:p>
          <a:p>
            <a:pPr lvl="1">
              <a:defRPr sz="1200">
                <a:solidFill>
                  <a:srgbClr val="2C3E50"/>
                </a:solidFill>
                <a:latin typeface="Yu Gothic"/>
              </a:defRPr>
            </a:pPr>
            <a:r>
              <a:t>3. 体験型マーケティングの進化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